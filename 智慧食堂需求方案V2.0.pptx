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78" r:id="rId3"/>
    <p:sldId id="277" r:id="rId4"/>
    <p:sldId id="259" r:id="rId5"/>
    <p:sldId id="260" r:id="rId6"/>
    <p:sldId id="285" r:id="rId7"/>
    <p:sldId id="298" r:id="rId8"/>
    <p:sldId id="299" r:id="rId9"/>
    <p:sldId id="300" r:id="rId10"/>
    <p:sldId id="301" r:id="rId11"/>
    <p:sldId id="27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8" d="100"/>
          <a:sy n="88" d="100"/>
        </p:scale>
        <p:origin x="274" y="82"/>
      </p:cViewPr>
      <p:guideLst>
        <p:guide orient="horz" pos="2160"/>
        <p:guide pos="2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1800" y="1311980"/>
            <a:ext cx="4568400" cy="4568400"/>
          </a:xfrm>
          <a:prstGeom prst="ellipse">
            <a:avLst/>
          </a:prstGeom>
          <a:solidFill>
            <a:srgbClr val="586371">
              <a:alpha val="49803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1014641" y="1312204"/>
            <a:ext cx="4627166" cy="4567952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 l="550" r="730"/>
            </a:stretch>
          </a:blipFill>
          <a:ln>
            <a:prstDash val="solid"/>
            <a:headEnd type="none"/>
            <a:tailEnd type="none"/>
          </a:ln>
        </p:spPr>
      </p:sp>
      <p:grpSp>
        <p:nvGrpSpPr>
          <p:cNvPr id="4" name="Group 4"/>
          <p:cNvGrpSpPr/>
          <p:nvPr/>
        </p:nvGrpSpPr>
        <p:grpSpPr>
          <a:xfrm>
            <a:off x="11199684" y="848700"/>
            <a:ext cx="262066" cy="180000"/>
            <a:chOff x="11284744" y="751477"/>
            <a:chExt cx="234156" cy="119062"/>
          </a:xfrm>
        </p:grpSpPr>
        <p:sp>
          <p:nvSpPr>
            <p:cNvPr id="5" name="AutoShape 5"/>
            <p:cNvSpPr/>
            <p:nvPr/>
          </p:nvSpPr>
          <p:spPr>
            <a:xfrm flipH="1">
              <a:off x="11284744" y="751477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284744" y="811008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1284744" y="870539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859695" y="5817909"/>
            <a:ext cx="472611" cy="472611"/>
            <a:chOff x="5859695" y="5817909"/>
            <a:chExt cx="472611" cy="472611"/>
          </a:xfrm>
        </p:grpSpPr>
        <p:sp>
          <p:nvSpPr>
            <p:cNvPr id="9" name="AutoShape 9"/>
            <p:cNvSpPr/>
            <p:nvPr/>
          </p:nvSpPr>
          <p:spPr>
            <a:xfrm>
              <a:off x="5859695" y="5817909"/>
              <a:ext cx="472611" cy="472611"/>
            </a:xfrm>
            <a:prstGeom prst="ellipse">
              <a:avLst/>
            </a:prstGeom>
            <a:solidFill>
              <a:srgbClr val="F1B91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10" name="AutoShape 10"/>
            <p:cNvSpPr/>
            <p:nvPr/>
          </p:nvSpPr>
          <p:spPr>
            <a:xfrm rot="10800000">
              <a:off x="6048705" y="6035712"/>
              <a:ext cx="94591" cy="61365"/>
            </a:xfrm>
            <a:prstGeom prst="triangle">
              <a:avLst/>
            </a:prstGeom>
            <a:solidFill>
              <a:srgbClr val="3B424B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11800" y="1311980"/>
            <a:ext cx="4568400" cy="4568400"/>
          </a:xfrm>
          <a:prstGeom prst="ellipse">
            <a:avLst/>
          </a:prstGeom>
          <a:solidFill>
            <a:srgbClr val="586371">
              <a:alpha val="49803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1014641" y="1312204"/>
            <a:ext cx="4627166" cy="4567952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 l="550" r="730"/>
            </a:stretch>
          </a:blipFill>
          <a:ln>
            <a:prstDash val="solid"/>
            <a:headEnd type="none"/>
            <a:tailEnd type="none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ln w="3175">
            <a:solidFill>
              <a:srgbClr val="FFFFFF">
                <a:alpha val="100000"/>
              </a:srgbClr>
            </a:solidFill>
            <a:prstDash val="solid"/>
            <a:headEnd type="none"/>
            <a:tailEnd type="none"/>
          </a:ln>
        </p:spPr>
      </p:cxnSp>
      <p:sp>
        <p:nvSpPr>
          <p:cNvPr id="3" name="AutoShape 3"/>
          <p:cNvSpPr/>
          <p:nvPr/>
        </p:nvSpPr>
        <p:spPr>
          <a:xfrm>
            <a:off x="2626456" y="5219207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FFFFFF">
              <a:alpha val="10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778495">
            <a:alpha val="100000"/>
            <a:lumMod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153341" y="1312204"/>
            <a:ext cx="4627166" cy="4567952"/>
          </a:xfrm>
          <a:prstGeom prst="ellipse">
            <a:avLst/>
          </a:prstGeom>
          <a:solidFill>
            <a:srgbClr val="586371">
              <a:alpha val="49803"/>
            </a:srgbClr>
          </a:solidFill>
          <a:ln>
            <a:prstDash val="solid"/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>
            <a:off x="6950500" y="1311980"/>
            <a:ext cx="4568400" cy="4568400"/>
          </a:xfrm>
          <a:prstGeom prst="rect">
            <a:avLst/>
          </a:prstGeom>
          <a:blipFill rotWithShape="1">
            <a:blip r:embed="rId2">
              <a:alphaModFix/>
              <a:alphaModFix/>
            </a:blip>
            <a:stretch>
              <a:fillRect l="550" r="730"/>
            </a:stretch>
          </a:blipFill>
          <a:ln>
            <a:prstDash val="solid"/>
            <a:headEnd type="none"/>
            <a:tailEnd type="none"/>
          </a:ln>
        </p:spPr>
      </p:sp>
      <p:grpSp>
        <p:nvGrpSpPr>
          <p:cNvPr id="4" name="Group 4"/>
          <p:cNvGrpSpPr/>
          <p:nvPr/>
        </p:nvGrpSpPr>
        <p:grpSpPr>
          <a:xfrm>
            <a:off x="11199684" y="848700"/>
            <a:ext cx="262066" cy="180000"/>
            <a:chOff x="11284744" y="751477"/>
            <a:chExt cx="234156" cy="119062"/>
          </a:xfrm>
        </p:grpSpPr>
        <p:sp>
          <p:nvSpPr>
            <p:cNvPr id="5" name="AutoShape 5"/>
            <p:cNvSpPr/>
            <p:nvPr/>
          </p:nvSpPr>
          <p:spPr>
            <a:xfrm flipH="1">
              <a:off x="11284744" y="751477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6" name="AutoShape 6"/>
            <p:cNvSpPr/>
            <p:nvPr/>
          </p:nvSpPr>
          <p:spPr>
            <a:xfrm flipH="1">
              <a:off x="11284744" y="811008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7" name="AutoShape 7"/>
            <p:cNvSpPr/>
            <p:nvPr/>
          </p:nvSpPr>
          <p:spPr>
            <a:xfrm flipH="1">
              <a:off x="11284744" y="870539"/>
              <a:ext cx="234156" cy="0"/>
            </a:xfrm>
            <a:prstGeom prst="line">
              <a:avLst/>
            </a:prstGeom>
            <a:ln w="12700">
              <a:solidFill>
                <a:srgbClr val="FFFFFF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</p:grpSp>
      <p:cxnSp>
        <p:nvCxnSpPr>
          <p:cNvPr id="8" name="Connector 8"/>
          <p:cNvCxnSpPr/>
          <p:nvPr/>
        </p:nvCxnSpPr>
        <p:spPr>
          <a:xfrm flipH="1">
            <a:off x="1254760" y="3039217"/>
            <a:ext cx="447948" cy="0"/>
          </a:xfrm>
          <a:prstGeom prst="line">
            <a:avLst/>
          </a:prstGeom>
          <a:ln w="25400">
            <a:solidFill>
              <a:srgbClr val="F1B91B">
                <a:alpha val="100000"/>
              </a:srgbClr>
            </a:solidFill>
            <a:prstDash val="solid"/>
            <a:headEnd type="none"/>
            <a:tailEnd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图标配文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图片占位符 6"/>
          <p:cNvSpPr>
            <a:spLocks noGrp="1"/>
          </p:cNvSpPr>
          <p:nvPr>
            <p:ph type="pic" idx="16392" hasCustomPrompt="1"/>
            <p:custDataLst>
              <p:tags r:id="rId2"/>
            </p:custDataLst>
          </p:nvPr>
        </p:nvSpPr>
        <p:spPr>
          <a:xfrm>
            <a:off x="14732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6096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096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5"/>
            </p:custDataLst>
          </p:nvPr>
        </p:nvSpPr>
        <p:spPr>
          <a:xfrm>
            <a:off x="53340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4704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44704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3" name="图片占位符 12"/>
          <p:cNvSpPr>
            <a:spLocks noGrp="1"/>
          </p:cNvSpPr>
          <p:nvPr>
            <p:ph type="pic" idx="16394" hasCustomPrompt="1"/>
            <p:custDataLst>
              <p:tags r:id="rId8"/>
            </p:custDataLst>
          </p:nvPr>
        </p:nvSpPr>
        <p:spPr>
          <a:xfrm>
            <a:off x="9194800" y="1803400"/>
            <a:ext cx="1524000" cy="15240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3581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单击此处添加项标题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4140200"/>
            <a:ext cx="3251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18" Type="http://schemas.openxmlformats.org/officeDocument/2006/relationships/slideLayout" Target="../slideLayouts/slideLayout6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17" Type="http://schemas.openxmlformats.org/officeDocument/2006/relationships/tags" Target="../tags/tag48.xml"/><Relationship Id="rId2" Type="http://schemas.openxmlformats.org/officeDocument/2006/relationships/tags" Target="../tags/tag33.xml"/><Relationship Id="rId16" Type="http://schemas.openxmlformats.org/officeDocument/2006/relationships/tags" Target="../tags/tag47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tags" Target="../tags/tag46.xml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tags" Target="../tags/tag4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857874" y="723900"/>
            <a:ext cx="5661025" cy="252545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600" b="1" i="0" dirty="0" err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AI智慧食堂</a:t>
            </a:r>
            <a:r>
              <a:rPr lang="zh-CN" altLang="en-US" sz="46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展示方案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366000" y="4472240"/>
            <a:ext cx="4152899" cy="50870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600" b="0" i="0" dirty="0" err="1">
                <a:solidFill>
                  <a:srgbClr val="F1B91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洞察核心需求，引领食堂数字化变革</a:t>
            </a:r>
            <a:endParaRPr lang="en-US" sz="1100" dirty="0"/>
          </a:p>
        </p:txBody>
      </p:sp>
      <p:sp>
        <p:nvSpPr>
          <p:cNvPr id="4" name="TextBox 4"/>
          <p:cNvSpPr txBox="1"/>
          <p:nvPr/>
        </p:nvSpPr>
        <p:spPr>
          <a:xfrm>
            <a:off x="7001013" y="5859780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r">
              <a:lnSpc>
                <a:spcPct val="100000"/>
              </a:lnSpc>
              <a:spcBef>
                <a:spcPts val="1000"/>
              </a:spcBef>
              <a:defRPr/>
            </a:pPr>
            <a:r>
              <a:rPr lang="zh-CN" altLang="en-US" sz="1200" b="0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欧阳谦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0398" y="5859780"/>
            <a:ext cx="4517887" cy="27432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1000"/>
              </a:spcBef>
              <a:defRPr/>
            </a:pPr>
            <a:r>
              <a:rPr 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20xx.xx.xx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4caed9d6-c0d5-402d-a13c-963d60d56e8c"/>
          <p:cNvGrpSpPr/>
          <p:nvPr>
            <p:custDataLst>
              <p:tags r:id="rId1"/>
            </p:custDataLst>
          </p:nvPr>
        </p:nvGrpSpPr>
        <p:grpSpPr>
          <a:xfrm>
            <a:off x="0" y="1130300"/>
            <a:ext cx="12192000" cy="4305311"/>
            <a:chOff x="0" y="1130300"/>
            <a:chExt cx="12192000" cy="4305311"/>
          </a:xfrm>
        </p:grpSpPr>
        <p:sp>
          <p:nvSpPr>
            <p:cNvPr id="3" name="AutoShape 3"/>
            <p:cNvSpPr/>
            <p:nvPr>
              <p:custDataLst>
                <p:tags r:id="rId2"/>
              </p:custDataLst>
            </p:nvPr>
          </p:nvSpPr>
          <p:spPr>
            <a:xfrm>
              <a:off x="0" y="3406786"/>
              <a:ext cx="12192000" cy="1076060"/>
            </a:xfrm>
            <a:prstGeom prst="rect">
              <a:avLst/>
            </a:prstGeom>
            <a:solidFill>
              <a:srgbClr val="F1B91B">
                <a:alpha val="10196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>
              <p:custDataLst>
                <p:tags r:id="rId3"/>
              </p:custDataLst>
            </p:nvPr>
          </p:nvSpPr>
          <p:spPr>
            <a:xfrm>
              <a:off x="660400" y="3944816"/>
              <a:ext cx="10858500" cy="0"/>
            </a:xfrm>
            <a:prstGeom prst="straightConnector1">
              <a:avLst/>
            </a:prstGeom>
            <a:ln w="6350">
              <a:gradFill>
                <a:gsLst>
                  <a:gs pos="0">
                    <a:srgbClr val="F1B91B">
                      <a:alpha val="0"/>
                    </a:srgbClr>
                  </a:gs>
                  <a:gs pos="100000">
                    <a:srgbClr val="F1B91B">
                      <a:alpha val="100000"/>
                    </a:srgbClr>
                  </a:gs>
                </a:gsLst>
                <a:lin ang="0"/>
              </a:gradFill>
              <a:prstDash val="solid"/>
              <a:headEnd type="none"/>
              <a:tailEnd type="triangl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66750" y="3650127"/>
              <a:ext cx="2108228" cy="1785484"/>
              <a:chOff x="666750" y="3650127"/>
              <a:chExt cx="2108228" cy="1785484"/>
            </a:xfrm>
          </p:grpSpPr>
          <p:sp>
            <p:nvSpPr>
              <p:cNvPr id="6" name="TextBox 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141180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75000">
                    <a:srgbClr val="F1B91B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grpSp>
            <p:nvGrpSpPr>
              <p:cNvPr id="7" name="Group 7"/>
              <p:cNvGrpSpPr/>
              <p:nvPr/>
            </p:nvGrpSpPr>
            <p:grpSpPr>
              <a:xfrm>
                <a:off x="666750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8" name="TextBox 8"/>
                <p:cNvSpPr txBox="1"/>
                <p:nvPr>
                  <p:custDataLst>
                    <p:tags r:id="rId20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zh-CN" alt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项目建设目标</a:t>
                  </a:r>
                </a:p>
              </p:txBody>
            </p:sp>
            <p:sp>
              <p:nvSpPr>
                <p:cNvPr id="9" name="AutoShape 9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10" name="Group 10"/>
            <p:cNvGrpSpPr/>
            <p:nvPr/>
          </p:nvGrpSpPr>
          <p:grpSpPr>
            <a:xfrm>
              <a:off x="2327623" y="2441361"/>
              <a:ext cx="2108228" cy="1795270"/>
              <a:chOff x="2327623" y="2441361"/>
              <a:chExt cx="2108228" cy="1795270"/>
            </a:xfrm>
          </p:grpSpPr>
          <p:sp>
            <p:nvSpPr>
              <p:cNvPr id="11" name="TextBox 11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088485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A8C016">
                      <a:alpha val="100000"/>
                      <a:lumMod val="60000"/>
                      <a:lumOff val="40000"/>
                    </a:srgbClr>
                  </a:gs>
                  <a:gs pos="75000">
                    <a:srgbClr val="A8C016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  <p:grpSp>
            <p:nvGrpSpPr>
              <p:cNvPr id="12" name="Group 12"/>
              <p:cNvGrpSpPr/>
              <p:nvPr/>
            </p:nvGrpSpPr>
            <p:grpSpPr>
              <a:xfrm>
                <a:off x="2327623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13" name="TextBox 13"/>
                <p:cNvSpPr txBox="1"/>
                <p:nvPr>
                  <p:custDataLst>
                    <p:tags r:id="rId17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 dirty="0" err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</a:t>
                  </a:r>
                  <a:r>
                    <a:rPr lang="zh-CN" altLang="en-US" sz="1800" b="1" i="0" strike="noStrike" dirty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目标</a:t>
                  </a:r>
                  <a:r>
                    <a:rPr lang="en-US" sz="1800" b="1" i="0" strike="noStrike" dirty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一：</a:t>
                  </a:r>
                  <a:r>
                    <a:rPr lang="zh-CN" altLang="en-US" sz="1800" b="1" i="0" strike="noStrike" dirty="0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提升就餐效率</a:t>
                  </a:r>
                </a:p>
              </p:txBody>
            </p:sp>
            <p:sp>
              <p:nvSpPr>
                <p:cNvPr id="14" name="AutoShape 14"/>
                <p:cNvSpPr/>
                <p:nvPr>
                  <p:custDataLst>
                    <p:tags r:id="rId18"/>
                  </p:custDataLst>
                </p:nvPr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sp>
          <p:nvSpPr>
            <p:cNvPr id="15" name="AutoShape 15"/>
            <p:cNvSpPr/>
            <p:nvPr/>
          </p:nvSpPr>
          <p:spPr>
            <a:xfrm>
              <a:off x="666750" y="1130300"/>
              <a:ext cx="10858500" cy="100291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3987772" y="3650127"/>
              <a:ext cx="2108228" cy="1785484"/>
              <a:chOff x="3987772" y="3650127"/>
              <a:chExt cx="2108228" cy="1785484"/>
            </a:xfrm>
          </p:grpSpPr>
          <p:sp>
            <p:nvSpPr>
              <p:cNvPr id="17" name="TextBox 17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4765167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75000">
                    <a:srgbClr val="F1B91B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grpSp>
            <p:nvGrpSpPr>
              <p:cNvPr id="18" name="Group 18"/>
              <p:cNvGrpSpPr/>
              <p:nvPr/>
            </p:nvGrpSpPr>
            <p:grpSpPr>
              <a:xfrm>
                <a:off x="3987772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19" name="TextBox 19"/>
                <p:cNvSpPr txBox="1"/>
                <p:nvPr>
                  <p:custDataLst>
                    <p:tags r:id="rId14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</a:t>
                  </a:r>
                  <a:r>
                    <a:rPr lang="zh-CN" altLang="en-US" b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目标</a:t>
                  </a: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二：</a:t>
                  </a:r>
                  <a:r>
                    <a:rPr lang="zh-CN" alt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降本增效</a:t>
                  </a: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运营</a:t>
                  </a:r>
                  <a:endParaRPr lang="en-US" sz="1100"/>
                </a:p>
              </p:txBody>
            </p:sp>
            <p:sp>
              <p:nvSpPr>
                <p:cNvPr id="20" name="AutoShape 20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1" name="Group 21"/>
            <p:cNvGrpSpPr/>
            <p:nvPr/>
          </p:nvGrpSpPr>
          <p:grpSpPr>
            <a:xfrm>
              <a:off x="5680987" y="2441361"/>
              <a:ext cx="2108228" cy="1795270"/>
              <a:chOff x="5680987" y="2441361"/>
              <a:chExt cx="2108228" cy="1795270"/>
            </a:xfrm>
          </p:grpSpPr>
          <p:sp>
            <p:nvSpPr>
              <p:cNvPr id="22" name="TextBox 22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441849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A8C016">
                      <a:alpha val="100000"/>
                      <a:lumMod val="60000"/>
                      <a:lumOff val="40000"/>
                    </a:srgbClr>
                  </a:gs>
                  <a:gs pos="75000">
                    <a:srgbClr val="A8C016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5680987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24" name="TextBox 24"/>
                <p:cNvSpPr txBox="1"/>
                <p:nvPr>
                  <p:custDataLst>
                    <p:tags r:id="rId11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</a:t>
                  </a:r>
                  <a:r>
                    <a:rPr lang="zh-CN" altLang="en-US" b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目标</a:t>
                  </a: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三：</a:t>
                  </a:r>
                  <a:r>
                    <a:rPr lang="zh-CN" alt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食安可控</a:t>
                  </a:r>
                </a:p>
              </p:txBody>
            </p:sp>
            <p:sp>
              <p:nvSpPr>
                <p:cNvPr id="25" name="AutoShape 25"/>
                <p:cNvSpPr/>
                <p:nvPr>
                  <p:custDataLst>
                    <p:tags r:id="rId12"/>
                  </p:custDataLst>
                </p:nvPr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26" name="Group 26"/>
            <p:cNvGrpSpPr/>
            <p:nvPr/>
          </p:nvGrpSpPr>
          <p:grpSpPr>
            <a:xfrm>
              <a:off x="7364019" y="3650127"/>
              <a:ext cx="2108228" cy="1785484"/>
              <a:chOff x="7364019" y="3650127"/>
              <a:chExt cx="2108228" cy="1785484"/>
            </a:xfrm>
          </p:grpSpPr>
          <p:sp>
            <p:nvSpPr>
              <p:cNvPr id="27" name="TextBox 27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8118531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75000">
                    <a:srgbClr val="F1B91B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grpSp>
            <p:nvGrpSpPr>
              <p:cNvPr id="28" name="Group 28"/>
              <p:cNvGrpSpPr/>
              <p:nvPr/>
            </p:nvGrpSpPr>
            <p:grpSpPr>
              <a:xfrm>
                <a:off x="7364019" y="4236631"/>
                <a:ext cx="2108228" cy="1198980"/>
                <a:chOff x="1906502" y="4601292"/>
                <a:chExt cx="2108228" cy="1198980"/>
              </a:xfrm>
            </p:grpSpPr>
            <p:sp>
              <p:nvSpPr>
                <p:cNvPr id="29" name="TextBox 29"/>
                <p:cNvSpPr txBox="1"/>
                <p:nvPr>
                  <p:custDataLst>
                    <p:tags r:id="rId8"/>
                  </p:custDataLst>
                </p:nvPr>
              </p:nvSpPr>
              <p:spPr>
                <a:xfrm>
                  <a:off x="1906502" y="5090848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</a:t>
                  </a:r>
                  <a:r>
                    <a:rPr lang="zh-CN" altLang="en-US" b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目标</a:t>
                  </a: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四：</a:t>
                  </a:r>
                  <a:r>
                    <a:rPr lang="zh-CN" alt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智能化体验升级</a:t>
                  </a:r>
                </a:p>
              </p:txBody>
            </p:sp>
            <p:sp>
              <p:nvSpPr>
                <p:cNvPr id="30" name="AutoShape 30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2954266" y="4601292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  <p:grpSp>
          <p:nvGrpSpPr>
            <p:cNvPr id="31" name="Group 31"/>
            <p:cNvGrpSpPr/>
            <p:nvPr/>
          </p:nvGrpSpPr>
          <p:grpSpPr>
            <a:xfrm>
              <a:off x="9034351" y="2441361"/>
              <a:ext cx="2108228" cy="1795270"/>
              <a:chOff x="9034351" y="2441361"/>
              <a:chExt cx="2108228" cy="1795270"/>
            </a:xfrm>
          </p:grpSpPr>
          <p:sp>
            <p:nvSpPr>
              <p:cNvPr id="32" name="TextBox 32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9795213" y="3650127"/>
                <a:ext cx="586504" cy="586504"/>
              </a:xfrm>
              <a:prstGeom prst="ellipse">
                <a:avLst/>
              </a:prstGeom>
              <a:gradFill>
                <a:gsLst>
                  <a:gs pos="0">
                    <a:srgbClr val="A8C016">
                      <a:alpha val="100000"/>
                      <a:lumMod val="60000"/>
                      <a:lumOff val="40000"/>
                    </a:srgbClr>
                  </a:gs>
                  <a:gs pos="75000">
                    <a:srgbClr val="A8C016">
                      <a:alpha val="100000"/>
                    </a:srgbClr>
                  </a:gs>
                </a:gsLst>
                <a:lin ang="2700000"/>
              </a:gradFill>
              <a:ln w="12700">
                <a:solidFill>
                  <a:srgbClr val="000000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06</a:t>
                </a:r>
                <a:endParaRPr lang="en-US" sz="1100"/>
              </a:p>
            </p:txBody>
          </p:sp>
          <p:grpSp>
            <p:nvGrpSpPr>
              <p:cNvPr id="33" name="Group 33"/>
              <p:cNvGrpSpPr/>
              <p:nvPr/>
            </p:nvGrpSpPr>
            <p:grpSpPr>
              <a:xfrm>
                <a:off x="9034351" y="2441361"/>
                <a:ext cx="2108228" cy="1205891"/>
                <a:chOff x="1900152" y="5316110"/>
                <a:chExt cx="2108228" cy="1205891"/>
              </a:xfrm>
            </p:grpSpPr>
            <p:sp>
              <p:nvSpPr>
                <p:cNvPr id="34" name="TextBox 34"/>
                <p:cNvSpPr txBox="1"/>
                <p:nvPr>
                  <p:custDataLst>
                    <p:tags r:id="rId5"/>
                  </p:custDataLst>
                </p:nvPr>
              </p:nvSpPr>
              <p:spPr>
                <a:xfrm>
                  <a:off x="1900152" y="5316110"/>
                  <a:ext cx="2108228" cy="70942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核心</a:t>
                  </a:r>
                  <a:r>
                    <a:rPr lang="zh-CN" altLang="en-US" b="1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  <a:sym typeface="+mn-ea"/>
                    </a:rPr>
                    <a:t>目标</a:t>
                  </a:r>
                  <a:r>
                    <a:rPr 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五：</a:t>
                  </a:r>
                  <a:r>
                    <a:rPr lang="zh-CN" altLang="en-US" sz="1800" b="1" i="0" strike="noStrike">
                      <a:solidFill>
                        <a:srgbClr val="FFFFFF">
                          <a:alpha val="100000"/>
                        </a:srgbClr>
                      </a:solidFill>
                      <a:latin typeface="微软雅黑" panose="020B0503020204020204" charset="-122"/>
                      <a:ea typeface="微软雅黑" panose="020B0503020204020204" charset="-122"/>
                      <a:cs typeface="微软雅黑" panose="020B0503020204020204" charset="-122"/>
                    </a:rPr>
                    <a:t>大数据服务驱动</a:t>
                  </a:r>
                </a:p>
              </p:txBody>
            </p:sp>
            <p:sp>
              <p:nvSpPr>
                <p:cNvPr id="35" name="AutoShape 35"/>
                <p:cNvSpPr/>
                <p:nvPr>
                  <p:custDataLst>
                    <p:tags r:id="rId6"/>
                  </p:custDataLst>
                </p:nvPr>
              </p:nvSpPr>
              <p:spPr>
                <a:xfrm flipV="1">
                  <a:off x="2954266" y="6134100"/>
                  <a:ext cx="0" cy="387901"/>
                </a:xfrm>
                <a:prstGeom prst="line">
                  <a:avLst/>
                </a:prstGeom>
                <a:ln w="6350">
                  <a:gradFill>
                    <a:gsLst>
                      <a:gs pos="0">
                        <a:srgbClr val="F1B91B">
                          <a:alpha val="0"/>
                        </a:srgbClr>
                      </a:gs>
                      <a:gs pos="100000">
                        <a:srgbClr val="F1B91B">
                          <a:alpha val="100000"/>
                        </a:srgbClr>
                      </a:gs>
                    </a:gsLst>
                    <a:lin ang="0"/>
                  </a:gradFill>
                  <a:prstDash val="solid"/>
                  <a:headEnd type="none"/>
                  <a:tailEnd type="triangle"/>
                </a:ln>
              </p:spPr>
            </p:sp>
          </p:grpSp>
        </p:grpSp>
      </p:grpSp>
      <p:sp>
        <p:nvSpPr>
          <p:cNvPr id="36" name="TextBox 3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核心建设目标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076950" y="2441601"/>
            <a:ext cx="5435600" cy="987399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项目适用场景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019800" y="3429000"/>
            <a:ext cx="4989195" cy="2117090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20000"/>
              </a:lnSpc>
              <a:spcBef>
                <a:spcPts val="1000"/>
              </a:spcBef>
              <a:defRPr/>
            </a:pPr>
            <a:r>
              <a:rPr lang="en-US" sz="14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企业/园区、高校/中小学、机关单位、医院/康养、社区养老食堂</a:t>
            </a:r>
            <a:endParaRPr lang="zh-CN" altLang="en-US" sz="14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051b2ee-a3b7-47d1-af19-2d3cedf9fdc5"/>
          <p:cNvGrpSpPr/>
          <p:nvPr>
            <p:custDataLst>
              <p:tags r:id="rId1"/>
            </p:custDataLst>
          </p:nvPr>
        </p:nvGrpSpPr>
        <p:grpSpPr>
          <a:xfrm>
            <a:off x="762000" y="1295400"/>
            <a:ext cx="8906076" cy="3409423"/>
            <a:chOff x="660400" y="2438401"/>
            <a:chExt cx="8906076" cy="3452096"/>
          </a:xfrm>
        </p:grpSpPr>
        <p:grpSp>
          <p:nvGrpSpPr>
            <p:cNvPr id="4" name="Group 4"/>
            <p:cNvGrpSpPr/>
            <p:nvPr/>
          </p:nvGrpSpPr>
          <p:grpSpPr>
            <a:xfrm>
              <a:off x="660400" y="2438401"/>
              <a:ext cx="1953782" cy="3441699"/>
              <a:chOff x="3313087" y="2438401"/>
              <a:chExt cx="1953782" cy="3441699"/>
            </a:xfrm>
          </p:grpSpPr>
          <p:sp>
            <p:nvSpPr>
              <p:cNvPr id="5" name="TextBox 5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3610795" y="2438401"/>
                <a:ext cx="1358366" cy="1358364"/>
              </a:xfrm>
              <a:prstGeom prst="ellipse">
                <a:avLst/>
              </a:prstGeom>
              <a:solidFill>
                <a:srgbClr val="F1B91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1B91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>
                <p:custDataLst>
                  <p:tags r:id="rId16"/>
                </p:custDataLst>
              </p:nvPr>
            </p:nvSpPr>
            <p:spPr>
              <a:xfrm flipH="1">
                <a:off x="3313087" y="4054283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人工结算慢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>
                <p:custDataLst>
                  <p:tags r:id="rId17"/>
                </p:custDataLst>
              </p:nvPr>
            </p:nvSpPr>
            <p:spPr>
              <a:xfrm flipH="1">
                <a:off x="3313088" y="466163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高峰期排队时间长，用户体验差，人工成本高。</a:t>
                </a:r>
                <a:endParaRPr lang="en-US" sz="1100"/>
              </a:p>
            </p:txBody>
          </p:sp>
        </p:grpSp>
        <p:sp>
          <p:nvSpPr>
            <p:cNvPr id="9" name="TextBox 9"/>
            <p:cNvSpPr txBox="1"/>
            <p:nvPr>
              <p:custDataLst>
                <p:tags r:id="rId6"/>
              </p:custDataLst>
            </p:nvPr>
          </p:nvSpPr>
          <p:spPr>
            <a:xfrm>
              <a:off x="3184287" y="2438401"/>
              <a:ext cx="1358366" cy="1358364"/>
            </a:xfrm>
            <a:prstGeom prst="ellipse">
              <a:avLst/>
            </a:prstGeom>
            <a:solidFill>
              <a:srgbClr val="F1B91B">
                <a:alpha val="14901"/>
              </a:srgbClr>
            </a:solidFill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1"/>
            <a:lstStyle/>
            <a:p>
              <a:pPr algn="ctr">
                <a:defRPr/>
              </a:pPr>
              <a:r>
                <a:rPr lang="en-US" sz="3200" b="1" i="0">
                  <a:solidFill>
                    <a:srgbClr val="F1B91B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1100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3022777" y="2438401"/>
              <a:ext cx="3746055" cy="3394681"/>
              <a:chOff x="5347989" y="2438401"/>
              <a:chExt cx="3746055" cy="3394681"/>
            </a:xfrm>
          </p:grpSpPr>
          <p:sp>
            <p:nvSpPr>
              <p:cNvPr id="13" name="TextBox 13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1B91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1B91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>
                <p:custDataLst>
                  <p:tags r:id="rId13"/>
                </p:custDataLst>
              </p:nvPr>
            </p:nvSpPr>
            <p:spPr>
              <a:xfrm flipH="1">
                <a:off x="5347989" y="3991357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食材浪费严重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>
                <p:custDataLst>
                  <p:tags r:id="rId14"/>
                </p:custDataLst>
              </p:nvPr>
            </p:nvSpPr>
            <p:spPr>
              <a:xfrm flipH="1">
                <a:off x="5402650" y="4614613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缺乏精准的就餐预测，采购与备餐凭经验，导致浪费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112759" y="2438401"/>
              <a:ext cx="3882252" cy="3443279"/>
              <a:chOff x="5211792" y="2438401"/>
              <a:chExt cx="3882252" cy="3443279"/>
            </a:xfrm>
          </p:grpSpPr>
          <p:sp>
            <p:nvSpPr>
              <p:cNvPr id="17" name="TextBox 1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735678" y="2438401"/>
                <a:ext cx="1358366" cy="1358364"/>
              </a:xfrm>
              <a:prstGeom prst="ellipse">
                <a:avLst/>
              </a:prstGeom>
              <a:solidFill>
                <a:srgbClr val="F1B91B">
                  <a:alpha val="14901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3200" b="1" i="0">
                    <a:solidFill>
                      <a:srgbClr val="F1B91B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>
                <p:custDataLst>
                  <p:tags r:id="rId10"/>
                </p:custDataLst>
              </p:nvPr>
            </p:nvSpPr>
            <p:spPr>
              <a:xfrm flipH="1">
                <a:off x="5211792" y="3956149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1800" b="1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营养信息缺失</a:t>
                </a:r>
                <a:endParaRPr lang="en-US" sz="1100" dirty="0"/>
              </a:p>
            </p:txBody>
          </p:sp>
          <p:sp>
            <p:nvSpPr>
              <p:cNvPr id="19" name="TextBox 19"/>
              <p:cNvSpPr txBox="1"/>
              <p:nvPr>
                <p:custDataLst>
                  <p:tags r:id="rId11"/>
                </p:custDataLst>
              </p:nvPr>
            </p:nvSpPr>
            <p:spPr>
              <a:xfrm flipH="1">
                <a:off x="5291156" y="4663211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用户无法获取菜品营养成分，难以实现健康饮食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7611337" y="3928432"/>
              <a:ext cx="1955139" cy="1962065"/>
              <a:chOff x="5484189" y="3928432"/>
              <a:chExt cx="1955139" cy="1962065"/>
            </a:xfrm>
          </p:grpSpPr>
          <p:sp>
            <p:nvSpPr>
              <p:cNvPr id="22" name="TextBox 22"/>
              <p:cNvSpPr txBox="1"/>
              <p:nvPr>
                <p:custDataLst>
                  <p:tags r:id="rId7"/>
                </p:custDataLst>
              </p:nvPr>
            </p:nvSpPr>
            <p:spPr>
              <a:xfrm flipH="1">
                <a:off x="5484189" y="3928432"/>
                <a:ext cx="1953782" cy="60734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zh-CN" altLang="en-US" sz="1800" b="1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食安</a:t>
                </a:r>
                <a:r>
                  <a:rPr lang="en-US" sz="1800" b="1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监管困难</a:t>
                </a:r>
                <a:endParaRPr lang="en-US" sz="1100" dirty="0"/>
              </a:p>
            </p:txBody>
          </p:sp>
          <p:sp>
            <p:nvSpPr>
              <p:cNvPr id="23" name="TextBox 23"/>
              <p:cNvSpPr txBox="1"/>
              <p:nvPr>
                <p:custDataLst>
                  <p:tags r:id="rId8"/>
                </p:custDataLst>
              </p:nvPr>
            </p:nvSpPr>
            <p:spPr>
              <a:xfrm flipH="1">
                <a:off x="5485548" y="4672028"/>
                <a:ext cx="1953780" cy="1218469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食品安全流程依赖人工记录，信息不透明，追溯链条不完整</a:t>
                </a:r>
                <a:r>
                  <a:rPr lang="en-US" sz="1200" b="0" i="0" dirty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。</a:t>
                </a:r>
                <a:endParaRPr lang="en-US" sz="1100" dirty="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痛点</a:t>
            </a:r>
            <a:r>
              <a:rPr lang="zh-CN" altLang="en-US" sz="28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与解决</a:t>
            </a:r>
            <a:endParaRPr lang="en-US" sz="1100"/>
          </a:p>
        </p:txBody>
      </p:sp>
      <p:sp>
        <p:nvSpPr>
          <p:cNvPr id="27" name="TextBox 7"/>
          <p:cNvSpPr txBox="1"/>
          <p:nvPr>
            <p:custDataLst>
              <p:tags r:id="rId2"/>
            </p:custDataLst>
          </p:nvPr>
        </p:nvSpPr>
        <p:spPr>
          <a:xfrm flipH="1">
            <a:off x="914401" y="4724318"/>
            <a:ext cx="1953780" cy="1203407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defRPr/>
            </a:pPr>
            <a:r>
              <a:rPr lang="zh-CN" altLang="en-US" sz="1400" b="0" i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采取无感结算、线上预定、多终端分流</a:t>
            </a:r>
          </a:p>
        </p:txBody>
      </p:sp>
      <p:sp>
        <p:nvSpPr>
          <p:cNvPr id="30" name="TextBox 7"/>
          <p:cNvSpPr txBox="1"/>
          <p:nvPr>
            <p:custDataLst>
              <p:tags r:id="rId3"/>
            </p:custDataLst>
          </p:nvPr>
        </p:nvSpPr>
        <p:spPr>
          <a:xfrm flipH="1">
            <a:off x="3148558" y="4731938"/>
            <a:ext cx="1953780" cy="1203407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订单反算、销量预测、剩餐分析</a:t>
            </a:r>
          </a:p>
        </p:txBody>
      </p:sp>
      <p:sp>
        <p:nvSpPr>
          <p:cNvPr id="31" name="TextBox 7"/>
          <p:cNvSpPr txBox="1"/>
          <p:nvPr>
            <p:custDataLst>
              <p:tags r:id="rId4"/>
            </p:custDataLst>
          </p:nvPr>
        </p:nvSpPr>
        <p:spPr>
          <a:xfrm flipH="1">
            <a:off x="5372101" y="4724317"/>
            <a:ext cx="1953780" cy="1203407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大模型营养分析推荐、过敏</a:t>
            </a:r>
            <a:r>
              <a:rPr lang="en-US" altLang="zh-CN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忌口、代订餐</a:t>
            </a:r>
          </a:p>
        </p:txBody>
      </p:sp>
      <p:sp>
        <p:nvSpPr>
          <p:cNvPr id="32" name="TextBox 7"/>
          <p:cNvSpPr txBox="1"/>
          <p:nvPr>
            <p:custDataLst>
              <p:tags r:id="rId5"/>
            </p:custDataLst>
          </p:nvPr>
        </p:nvSpPr>
        <p:spPr>
          <a:xfrm flipH="1">
            <a:off x="7712937" y="4724317"/>
            <a:ext cx="1953780" cy="1203407"/>
          </a:xfrm>
          <a:prstGeom prst="rect">
            <a:avLst/>
          </a:prstGeom>
          <a:ln>
            <a:prstDash val="solid"/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溯源、农残、留样、晨检、后厨</a:t>
            </a:r>
            <a:r>
              <a:rPr lang="en-US" altLang="zh-CN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400" b="0" i="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08797d60-6821-4885-8b55-cca686511e65"/>
          <p:cNvGrpSpPr/>
          <p:nvPr/>
        </p:nvGrpSpPr>
        <p:grpSpPr>
          <a:xfrm>
            <a:off x="660399" y="1130300"/>
            <a:ext cx="10858501" cy="4536582"/>
            <a:chOff x="660399" y="1130300"/>
            <a:chExt cx="10858501" cy="4536582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667113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ctr">
                <a:lnSpc>
                  <a:spcPct val="120000"/>
                </a:lnSpc>
                <a:defRPr/>
              </a:pPr>
              <a:r>
                <a:rPr lang="en-US" sz="2400" b="1" i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移动互联与大数据技术赋能餐饮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1" y="2270088"/>
              <a:ext cx="2067188" cy="3396794"/>
              <a:chOff x="660401" y="2270088"/>
              <a:chExt cx="2067188" cy="3396794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1019482" y="2270088"/>
                <a:ext cx="1349026" cy="134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01</a:t>
                </a:r>
                <a:endParaRPr lang="en-US" sz="1100"/>
              </a:p>
            </p:txBody>
          </p:sp>
          <p:sp>
            <p:nvSpPr>
              <p:cNvPr id="6" name="AutoShape 6"/>
              <p:cNvSpPr/>
              <p:nvPr/>
            </p:nvSpPr>
            <p:spPr>
              <a:xfrm>
                <a:off x="660402" y="5580228"/>
                <a:ext cx="2067187" cy="86654"/>
              </a:xfrm>
              <a:prstGeom prst="rect">
                <a:avLst/>
              </a:prstGeom>
              <a:solidFill>
                <a:srgbClr val="F1B91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60401" y="3215437"/>
                <a:ext cx="2067187" cy="241064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1B91B">
                      <a:alpha val="0"/>
                    </a:srgbClr>
                  </a:gs>
                  <a:gs pos="100000">
                    <a:srgbClr val="000000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29398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用户习惯已养成，要求更便捷的无现金支付体验。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38311" y="3739022"/>
                <a:ext cx="1911366" cy="53754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移动支付普及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858229" y="2270088"/>
              <a:ext cx="2067188" cy="3396794"/>
              <a:chOff x="2858229" y="2270088"/>
              <a:chExt cx="2067188" cy="3396794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58230" y="5580228"/>
                <a:ext cx="2067187" cy="86654"/>
              </a:xfrm>
              <a:prstGeom prst="rect">
                <a:avLst/>
              </a:prstGeom>
              <a:solidFill>
                <a:srgbClr val="778495">
                  <a:alpha val="100000"/>
                  <a:lumMod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2858229" y="3215437"/>
                <a:ext cx="2067187" cy="241064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778495">
                      <a:alpha val="0"/>
                    </a:srgbClr>
                  </a:gs>
                  <a:gs pos="100000">
                    <a:srgbClr val="000000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027226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通过数据分析优化菜品、采购和人员安排，实现精细化运营。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936139" y="3739022"/>
                <a:ext cx="1911366" cy="53754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78495">
                      <a:alpha val="100000"/>
                      <a:lumMod val="60000"/>
                      <a:lumOff val="40000"/>
                    </a:srgbClr>
                  </a:gs>
                  <a:gs pos="50000">
                    <a:srgbClr val="778495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数据驱动决策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217310" y="2270088"/>
                <a:ext cx="1349026" cy="134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78495">
                      <a:alpha val="100000"/>
                      <a:lumMod val="60000"/>
                      <a:lumOff val="40000"/>
                    </a:srgbClr>
                  </a:gs>
                  <a:gs pos="50000">
                    <a:srgbClr val="778495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5056057" y="2270088"/>
              <a:ext cx="2067188" cy="3396794"/>
              <a:chOff x="5056057" y="2270088"/>
              <a:chExt cx="2067188" cy="339679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5415138" y="2270088"/>
                <a:ext cx="1349026" cy="134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03</a:t>
                </a:r>
                <a:endParaRPr lang="en-US" sz="1100"/>
              </a:p>
            </p:txBody>
          </p:sp>
          <p:sp>
            <p:nvSpPr>
              <p:cNvPr id="18" name="AutoShape 18"/>
              <p:cNvSpPr/>
              <p:nvPr/>
            </p:nvSpPr>
            <p:spPr>
              <a:xfrm>
                <a:off x="5056058" y="5580228"/>
                <a:ext cx="2067187" cy="86654"/>
              </a:xfrm>
              <a:prstGeom prst="rect">
                <a:avLst/>
              </a:prstGeom>
              <a:solidFill>
                <a:srgbClr val="F1B91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5056057" y="3215437"/>
                <a:ext cx="2067187" cy="241064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1B91B">
                      <a:alpha val="0"/>
                    </a:srgbClr>
                  </a:gs>
                  <a:gs pos="100000">
                    <a:srgbClr val="000000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5225054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用户期望获得符合个人口味和健康需求的定制化服务。</a:t>
                </a:r>
                <a:endParaRPr lang="en-US" sz="1100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133967" y="3739022"/>
                <a:ext cx="1911366" cy="53754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个性化需求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253885" y="2270088"/>
              <a:ext cx="2067188" cy="3396794"/>
              <a:chOff x="7253885" y="2270088"/>
              <a:chExt cx="2067188" cy="3396794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7253886" y="5580228"/>
                <a:ext cx="2067187" cy="86654"/>
              </a:xfrm>
              <a:prstGeom prst="rect">
                <a:avLst/>
              </a:prstGeom>
              <a:solidFill>
                <a:srgbClr val="778495">
                  <a:alpha val="100000"/>
                  <a:lumMod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7253885" y="3215437"/>
                <a:ext cx="2067187" cy="241064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778495">
                      <a:alpha val="0"/>
                    </a:srgbClr>
                  </a:gs>
                  <a:gs pos="100000">
                    <a:srgbClr val="000000">
                      <a:alpha val="14901"/>
                      <a:lumMod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422882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17000"/>
                  </a:lnSpc>
                  <a:buFont typeface="Arial" panose="020B0604020202020204"/>
                  <a:buChar char="•"/>
                  <a:defRPr/>
                </a:pPr>
                <a:r>
                  <a:rPr lang="en-US" sz="11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自助点餐机、智能结算台等设备能有效提升服务效率。</a:t>
                </a:r>
                <a:endParaRPr lang="en-US" sz="1100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331795" y="3739022"/>
                <a:ext cx="1911366" cy="53754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78495">
                      <a:alpha val="100000"/>
                      <a:lumMod val="60000"/>
                      <a:lumOff val="40000"/>
                    </a:srgbClr>
                  </a:gs>
                  <a:gs pos="50000">
                    <a:srgbClr val="778495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智能硬件应用</a:t>
                </a:r>
                <a:endParaRPr lang="en-US" sz="1100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612966" y="2270088"/>
                <a:ext cx="1349026" cy="134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778495">
                      <a:alpha val="100000"/>
                      <a:lumMod val="60000"/>
                      <a:lumOff val="40000"/>
                    </a:srgbClr>
                  </a:gs>
                  <a:gs pos="50000">
                    <a:srgbClr val="778495">
                      <a:alpha val="100000"/>
                      <a:lumMod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108000" tIns="108000" rIns="108000" bIns="10800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04</a:t>
                </a:r>
                <a:endParaRPr lang="en-US" sz="1100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9451712" y="2270088"/>
              <a:ext cx="2067188" cy="3396794"/>
              <a:chOff x="9451712" y="2270088"/>
              <a:chExt cx="2067188" cy="3396794"/>
            </a:xfrm>
          </p:grpSpPr>
          <p:sp>
            <p:nvSpPr>
              <p:cNvPr id="29" name="TextBox 29"/>
              <p:cNvSpPr txBox="1"/>
              <p:nvPr/>
            </p:nvSpPr>
            <p:spPr>
              <a:xfrm>
                <a:off x="9810793" y="2270088"/>
                <a:ext cx="1349026" cy="1349026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20000"/>
                  </a:lnSpc>
                  <a:defRPr/>
                </a:pPr>
                <a:r>
                  <a:rPr lang="en-US" sz="2000" b="1" i="0">
                    <a:solidFill>
                      <a:srgbClr val="FFFFFF">
                        <a:alpha val="100000"/>
                      </a:srgbClr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</a:rPr>
                  <a:t>05</a:t>
                </a:r>
                <a:endParaRPr lang="en-US" sz="1100"/>
              </a:p>
            </p:txBody>
          </p:sp>
          <p:sp>
            <p:nvSpPr>
              <p:cNvPr id="30" name="AutoShape 30"/>
              <p:cNvSpPr/>
              <p:nvPr/>
            </p:nvSpPr>
            <p:spPr>
              <a:xfrm>
                <a:off x="9451713" y="5580228"/>
                <a:ext cx="2067187" cy="86654"/>
              </a:xfrm>
              <a:prstGeom prst="rect">
                <a:avLst/>
              </a:prstGeom>
              <a:solidFill>
                <a:srgbClr val="F1B91B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>
                <a:off x="9451712" y="3215437"/>
                <a:ext cx="2067187" cy="2410645"/>
              </a:xfrm>
              <a:prstGeom prst="roundRect">
                <a:avLst>
                  <a:gd name="adj" fmla="val 0"/>
                </a:avLst>
              </a:prstGeom>
              <a:gradFill>
                <a:gsLst>
                  <a:gs pos="0">
                    <a:srgbClr val="F1B91B">
                      <a:alpha val="0"/>
                    </a:srgbClr>
                  </a:gs>
                  <a:gs pos="100000">
                    <a:srgbClr val="000000">
                      <a:alpha val="14901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9620709" y="4396477"/>
                <a:ext cx="1729195" cy="89949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buFont typeface="Arial" panose="020B0604020202020204"/>
                  <a:buChar char="•"/>
                  <a:defRPr/>
                </a:pPr>
                <a:r>
                  <a:rPr lang="en-US" sz="1200" b="0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响应国家号召，利用技术手段落实“光盘行动”，反对浪费。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529622" y="3739022"/>
                <a:ext cx="1911366" cy="537547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F1B91B">
                      <a:alpha val="100000"/>
                      <a:lumMod val="60000"/>
                      <a:lumOff val="40000"/>
                    </a:srgbClr>
                  </a:gs>
                  <a:gs pos="50000">
                    <a:srgbClr val="F1B91B">
                      <a:alpha val="100000"/>
                    </a:srgbClr>
                  </a:gs>
                </a:gsLst>
                <a:lin ang="2700000"/>
              </a:gradFill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500" b="1" i="0">
                    <a:solidFill>
                      <a:srgbClr val="FFFFFF">
                        <a:alpha val="100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满足监管要求</a:t>
                </a:r>
                <a:endParaRPr lang="en-US" sz="1100"/>
              </a:p>
            </p:txBody>
          </p:sp>
        </p:grpSp>
      </p:grpSp>
      <p:sp>
        <p:nvSpPr>
          <p:cNvPr id="34" name="TextBox 3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数字化</a:t>
            </a:r>
            <a:r>
              <a:rPr lang="zh-CN" altLang="en-US" sz="2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趋势与支持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/>
          <p:cNvSpPr txBox="1"/>
          <p:nvPr/>
        </p:nvSpPr>
        <p:spPr>
          <a:xfrm>
            <a:off x="3048000" y="-152400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altLang="zh-CN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视觉结算：无感体验与数据智能的完美融合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304E856-7E77-88B4-E50D-08EB98360D9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838200"/>
            <a:ext cx="7324724" cy="4088218"/>
          </a:xfrm>
          <a:prstGeom prst="rect">
            <a:avLst/>
          </a:prstGeom>
        </p:spPr>
      </p:pic>
      <p:sp>
        <p:nvSpPr>
          <p:cNvPr id="5" name="TextBox 36">
            <a:extLst>
              <a:ext uri="{FF2B5EF4-FFF2-40B4-BE49-F238E27FC236}">
                <a16:creationId xmlns:a16="http://schemas.microsoft.com/office/drawing/2014/main" id="{2793300B-868A-B59B-4684-0EF6699A8843}"/>
              </a:ext>
            </a:extLst>
          </p:cNvPr>
          <p:cNvSpPr txBox="1"/>
          <p:nvPr/>
        </p:nvSpPr>
        <p:spPr>
          <a:xfrm>
            <a:off x="2514600" y="4926418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极速识别   营养量化  边缘稳行   科技赋能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C29E-B3C5-B916-8B14-633B40A81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>
            <a:extLst>
              <a:ext uri="{FF2B5EF4-FFF2-40B4-BE49-F238E27FC236}">
                <a16:creationId xmlns:a16="http://schemas.microsoft.com/office/drawing/2014/main" id="{2C316CED-6F1A-A1C2-2002-463BEE9FB430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个人定制化：基于大数据的精准营养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DC69F8-BA40-6B02-E0D8-3AFC314AFA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041762"/>
            <a:ext cx="8080248" cy="4509906"/>
          </a:xfrm>
          <a:prstGeom prst="rect">
            <a:avLst/>
          </a:prstGeom>
        </p:spPr>
      </p:pic>
      <p:sp>
        <p:nvSpPr>
          <p:cNvPr id="5" name="TextBox 36">
            <a:extLst>
              <a:ext uri="{FF2B5EF4-FFF2-40B4-BE49-F238E27FC236}">
                <a16:creationId xmlns:a16="http://schemas.microsoft.com/office/drawing/2014/main" id="{ABD28A71-4378-60FD-621A-AD9C58612517}"/>
              </a:ext>
            </a:extLst>
          </p:cNvPr>
          <p:cNvSpPr txBox="1"/>
          <p:nvPr/>
        </p:nvSpPr>
        <p:spPr>
          <a:xfrm>
            <a:off x="2286000" y="5366182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个体数据画像 智能饮食推荐 膳后摄入分析</a:t>
            </a:r>
          </a:p>
        </p:txBody>
      </p:sp>
    </p:spTree>
    <p:extLst>
      <p:ext uri="{BB962C8B-B14F-4D97-AF65-F5344CB8AC3E}">
        <p14:creationId xmlns:p14="http://schemas.microsoft.com/office/powerpoint/2010/main" val="1430421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48042-123A-A700-BEC7-BC0EB7848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>
            <a:extLst>
              <a:ext uri="{FF2B5EF4-FFF2-40B4-BE49-F238E27FC236}">
                <a16:creationId xmlns:a16="http://schemas.microsoft.com/office/drawing/2014/main" id="{0DCC72D7-88DB-A38D-A7F7-2C2C562387A7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智能交互：知识库与 </a:t>
            </a:r>
            <a:r>
              <a:rPr lang="en-US" altLang="zh-CN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</a:t>
            </a: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</a:t>
            </a:r>
          </a:p>
        </p:txBody>
      </p:sp>
      <p:sp>
        <p:nvSpPr>
          <p:cNvPr id="5" name="TextBox 36">
            <a:extLst>
              <a:ext uri="{FF2B5EF4-FFF2-40B4-BE49-F238E27FC236}">
                <a16:creationId xmlns:a16="http://schemas.microsoft.com/office/drawing/2014/main" id="{1261FB94-8E31-1B24-D5D5-CE4E42A78C76}"/>
              </a:ext>
            </a:extLst>
          </p:cNvPr>
          <p:cNvSpPr txBox="1"/>
          <p:nvPr/>
        </p:nvSpPr>
        <p:spPr>
          <a:xfrm>
            <a:off x="2286000" y="5366182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私有知识问答 智食知识库交互 本地语义检索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36E9C77-50EA-2502-DFE8-56B0075792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229" y="1025000"/>
            <a:ext cx="7921498" cy="442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173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7DDA7-920E-A132-1177-357430219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>
            <a:extLst>
              <a:ext uri="{FF2B5EF4-FFF2-40B4-BE49-F238E27FC236}">
                <a16:creationId xmlns:a16="http://schemas.microsoft.com/office/drawing/2014/main" id="{2F6D161B-8B14-16B4-3DF4-26474B38257B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基于大模型的个人健康与运动建议</a:t>
            </a:r>
          </a:p>
        </p:txBody>
      </p:sp>
      <p:sp>
        <p:nvSpPr>
          <p:cNvPr id="5" name="TextBox 36">
            <a:extLst>
              <a:ext uri="{FF2B5EF4-FFF2-40B4-BE49-F238E27FC236}">
                <a16:creationId xmlns:a16="http://schemas.microsoft.com/office/drawing/2014/main" id="{4968DA1F-F6F2-78E7-CA23-904EA279C7D9}"/>
              </a:ext>
            </a:extLst>
          </p:cNvPr>
          <p:cNvSpPr txBox="1"/>
          <p:nvPr/>
        </p:nvSpPr>
        <p:spPr>
          <a:xfrm>
            <a:off x="990600" y="5379245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摄入精准回溯 智能缺口分析 精准饮食补缺 动食平衡建议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3AD4ED-1485-32DD-C051-309E1A097A6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0526" y="1028699"/>
            <a:ext cx="7318248" cy="4084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800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4778E-933A-0571-473F-9A4B5372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6">
            <a:extLst>
              <a:ext uri="{FF2B5EF4-FFF2-40B4-BE49-F238E27FC236}">
                <a16:creationId xmlns:a16="http://schemas.microsoft.com/office/drawing/2014/main" id="{59087023-A9A7-C529-4F7C-70F929750287}"/>
              </a:ext>
            </a:extLst>
          </p:cNvPr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28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数智厨房操作系统</a:t>
            </a:r>
          </a:p>
        </p:txBody>
      </p:sp>
      <p:sp>
        <p:nvSpPr>
          <p:cNvPr id="5" name="TextBox 36">
            <a:extLst>
              <a:ext uri="{FF2B5EF4-FFF2-40B4-BE49-F238E27FC236}">
                <a16:creationId xmlns:a16="http://schemas.microsoft.com/office/drawing/2014/main" id="{D634D815-CFE4-BF42-BA27-2627599AB27E}"/>
              </a:ext>
            </a:extLst>
          </p:cNvPr>
          <p:cNvSpPr txBox="1"/>
          <p:nvPr/>
        </p:nvSpPr>
        <p:spPr>
          <a:xfrm>
            <a:off x="990600" y="5379245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全域实时感知 食材全程溯源 员工动态</a:t>
            </a:r>
            <a:r>
              <a:rPr lang="en-US" altLang="zh-CN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AI</a:t>
            </a:r>
            <a:r>
              <a:rPr lang="zh-CN" altLang="en-US" sz="3200" b="1" i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生产调度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024139-822B-F30A-914E-8400CE595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28699"/>
            <a:ext cx="7756474" cy="432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192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27860" y="2378818"/>
            <a:ext cx="4333240" cy="1320798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ctr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4800" b="1" i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fa8a54e7adee0739134972e8815c9d0ad378299"/>
  <p:tag name="KSO_WM_NEWLAYOUT_ID" val="slide_df190c9fa32d70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9.00086614173233,&quot;left&quot;:0,&quot;top&quot;:89,&quot;width&quot;:960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,&quot;left&quot;:52,&quot;top&quot;:89,&quot;width&quot;:863}"/>
</p:tagLst>
</file>

<file path=ppt/theme/theme1.xml><?xml version="1.0" encoding="utf-8"?>
<a:theme xmlns:a="http://schemas.openxmlformats.org/drawingml/2006/main" name="f487c3c1-e7d5-42e9-ba59-d3f11bab6e87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</TotalTime>
  <Words>314</Words>
  <Application>Microsoft Office PowerPoint</Application>
  <PresentationFormat>宽屏</PresentationFormat>
  <Paragraphs>64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f487c3c1-e7d5-42e9-ba59-d3f11bab6e87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孔思凡</dc:creator>
  <cp:lastModifiedBy>思凡 孔</cp:lastModifiedBy>
  <cp:revision>19</cp:revision>
  <dcterms:created xsi:type="dcterms:W3CDTF">2006-08-16T00:00:00Z</dcterms:created>
  <dcterms:modified xsi:type="dcterms:W3CDTF">2026-03-25T20:59:17Z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995918850CE54D9D8BF69BF132347352_12</vt:lpwstr>
  </property>
  <property fmtid="{D5CDD505-2E9C-101B-9397-08002B2CF9AE}" pid="3" name="KSOProductBuildVer">
    <vt:lpwstr>2052-12.1.0.25225</vt:lpwstr>
  </property>
</Properties>
</file>